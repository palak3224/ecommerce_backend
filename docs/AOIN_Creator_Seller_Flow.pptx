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9144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631F"/>
                </a:solidFill>
                <a:latin typeface="Calibri"/>
              </a:rPr>
              <a:t>AOIN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Creator × Seller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Monetization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2631F"/>
                </a:solidFill>
                <a:latin typeface="Calibri"/>
              </a:rPr>
              <a:t>An open, self-serve affiliate model — Wishlink-style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8CED4"/>
                </a:solidFill>
                <a:latin typeface="Calibri"/>
              </a:rPr>
              <a:t>Sellers open products for promotion · Creators promote anything · AOIN tracks every sale &amp; pays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The Core Concept — No Matchmaking, Fully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B6670"/>
                </a:solidFill>
                <a:latin typeface="Calibri"/>
              </a:rPr>
              <a:t>There is no hiring and no selection. Sellers simply make products available for affiliate promotion with a commission rate. Any creator can promote any available product, get their own link, and earn on the sales they drive.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3611880" cy="2286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3611880" cy="109728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631F"/>
                </a:solidFill>
                <a:latin typeface="Calibri"/>
              </a:rPr>
              <a:t>Sellers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Flip products "on" for affiliate and set a commission %. That's it — no approving creators.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331720"/>
            <a:ext cx="3611880" cy="2286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2331720"/>
            <a:ext cx="3611880" cy="109728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60604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F2A37"/>
                </a:solidFill>
                <a:latin typeface="Calibri"/>
              </a:rPr>
              <a:t>Creators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15468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Browse the open catalog, promote anything via reels or shareable links, earn on every sale.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331720"/>
            <a:ext cx="3611880" cy="2286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2331720"/>
            <a:ext cx="3611880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60604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E7D32"/>
                </a:solidFill>
                <a:latin typeface="Calibri"/>
              </a:rPr>
              <a:t>AOIN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15468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Hosts the catalog, tracks each sale to the right creator, handles payouts, keeps a platform fee.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11155680" cy="960120"/>
          </a:xfrm>
          <a:prstGeom prst="round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In one line:  Sellers list → Creators self-serve → AOIN attributes every sale to the creator who drove it and pays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WHO'S INVOLVED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The Four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10972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28016" cy="10972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2A37"/>
                </a:solidFill>
                <a:latin typeface="Calibri"/>
              </a:rPr>
              <a:t>BUYER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371600"/>
            <a:ext cx="7406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0"/>
                </a:solidFill>
                <a:latin typeface="Calibri"/>
              </a:rPr>
              <a:t>Shops, watches reels, buys. Experience is unchanged — tracking is invisible to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15184"/>
            <a:ext cx="11155680" cy="10972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15184"/>
            <a:ext cx="128016" cy="109728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15184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631F"/>
                </a:solidFill>
                <a:latin typeface="Calibri"/>
              </a:rPr>
              <a:t>SELLER (Merchant)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15184"/>
            <a:ext cx="7406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0"/>
                </a:solidFill>
                <a:latin typeface="Calibri"/>
              </a:rPr>
              <a:t>Lists products; decides which are open for affiliate and at what commission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58768"/>
            <a:ext cx="11155680" cy="10972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58768"/>
            <a:ext cx="128016" cy="1097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D32"/>
                </a:solidFill>
                <a:latin typeface="Calibri"/>
              </a:rPr>
              <a:t>CREATOR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858768"/>
            <a:ext cx="7406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0"/>
                </a:solidFill>
                <a:latin typeface="Calibri"/>
              </a:rPr>
              <a:t>Browses the open catalog, promotes anything via AOIN reels or shareable links, earns commission.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02352"/>
            <a:ext cx="11155680" cy="10972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102352"/>
            <a:ext cx="128016" cy="109728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31089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B6670"/>
                </a:solidFill>
                <a:latin typeface="Calibri"/>
              </a:rPr>
              <a:t>AOIN (Platform)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102352"/>
            <a:ext cx="7406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5B6670"/>
                </a:solidFill>
                <a:latin typeface="Calibri"/>
              </a:rPr>
              <a:t>Runs the catalog, tracks sales to creators, settles money, takes a platform fee.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1 · SELLER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Seller Makes Products Available for Creators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•  Turn on "Open for Creators". </a:t>
            </a:r>
            <a:r>
              <a:rPr sz="1500">
                <a:solidFill>
                  <a:srgbClr val="1F2A37"/>
                </a:solidFill>
                <a:latin typeface="Calibri"/>
              </a:rPr>
              <a:t>On any product, the seller flips a switch to make it promotable.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•  Set the commission %. </a:t>
            </a:r>
            <a:r>
              <a:rPr sz="1500">
                <a:solidFill>
                  <a:srgbClr val="1F2A37"/>
                </a:solidFill>
                <a:latin typeface="Calibri"/>
              </a:rPr>
              <a:t>e.g. 10% of each sale — per product, or in bulk across the catalog.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•  Optional date window. </a:t>
            </a:r>
            <a:r>
              <a:rPr sz="1500">
                <a:solidFill>
                  <a:srgbClr val="1F2A37"/>
                </a:solidFill>
                <a:latin typeface="Calibri"/>
              </a:rPr>
              <a:t>Run a higher rate during a sale season, then revert.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•  Auto-listed instantly. </a:t>
            </a:r>
            <a:r>
              <a:rPr sz="1500">
                <a:solidFill>
                  <a:srgbClr val="1F2A37"/>
                </a:solidFill>
                <a:latin typeface="Calibri"/>
              </a:rPr>
              <a:t>The product appears in the public creator catalog for everyone — no approvals.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•  Change or pause anytime. </a:t>
            </a:r>
            <a:r>
              <a:rPr sz="1500">
                <a:solidFill>
                  <a:srgbClr val="1F2A37"/>
                </a:solidFill>
                <a:latin typeface="Calibri"/>
              </a:rPr>
              <a:t>Adjust the rate or remove a product; existing links keep working at the current rate.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F2A37"/>
                </a:solidFill>
                <a:latin typeface="Calibri"/>
              </a:rPr>
              <a:t>•  Watch results, not creators. </a:t>
            </a:r>
            <a:r>
              <a:rPr sz="1500">
                <a:solidFill>
                  <a:srgbClr val="1F2A37"/>
                </a:solidFill>
                <a:latin typeface="Calibri"/>
              </a:rPr>
              <a:t>See sales driven, commission owed &amp; paid — without managing individual creators.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463040"/>
            <a:ext cx="4389120" cy="4297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4592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631F"/>
                </a:solidFill>
                <a:latin typeface="Calibri"/>
              </a:rPr>
              <a:t>The seller's only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194560"/>
            <a:ext cx="3931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A37"/>
                </a:solidFill>
                <a:latin typeface="Calibri"/>
              </a:rPr>
              <a:t>"Make it available + set the rate."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474720"/>
            <a:ext cx="3931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Everything after that is creator-driven. No inviting, no approving, no negotiating per creator. Open the product once and it reaches every creator on AOIN.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2 ·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Creator Onboarding &amp;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697480" cy="31089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Sign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670"/>
                </a:solidFill>
                <a:latin typeface="Calibri"/>
              </a:rPr>
              <a:t>Join as a Creator on the AOIN app (phone OTP).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828800"/>
            <a:ext cx="2697480" cy="31089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0168" y="2103120"/>
            <a:ext cx="640080" cy="64008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9260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Build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42900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670"/>
                </a:solidFill>
                <a:latin typeface="Calibri"/>
              </a:rPr>
              <a:t>Add Instagram &amp; YouTube handles; upload portfolio videos.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28800"/>
            <a:ext cx="2697480" cy="31089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103120"/>
            <a:ext cx="640080" cy="64008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9260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Pick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42900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670"/>
                </a:solidFill>
                <a:latin typeface="Calibri"/>
              </a:rPr>
              <a:t>Fashion, tech, beauty… so the catalog fits their niche.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828800"/>
            <a:ext cx="2697480" cy="31089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36024" y="2103120"/>
            <a:ext cx="640080" cy="64008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9260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Instant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42900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B6670"/>
                </a:solidFill>
                <a:latin typeface="Calibri"/>
              </a:rPr>
              <a:t>No waiting, no approval — being a creator IS the permission.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57800"/>
            <a:ext cx="11155680" cy="777240"/>
          </a:xfrm>
          <a:prstGeom prst="round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A37"/>
                </a:solidFill>
                <a:latin typeface="Calibri"/>
              </a:rPr>
              <a:t>No application, no review — once set up, the creator instantly has full access to the affiliate catalog.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3 ·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Discovering Products — The Open Catalog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B6670"/>
                </a:solidFill>
                <a:latin typeface="Calibri"/>
              </a:rPr>
              <a:t>The heart of the experience. Every product any seller has opened for affiliate is visible to every creator.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F2A37"/>
                </a:solidFill>
                <a:latin typeface="Calibri"/>
              </a:rPr>
              <a:t>•  One open catalog. </a:t>
            </a:r>
            <a:r>
              <a:rPr sz="1550">
                <a:solidFill>
                  <a:srgbClr val="1F2A37"/>
                </a:solidFill>
                <a:latin typeface="Calibri"/>
              </a:rPr>
              <a:t>All affiliate-enabled products, across all sellers, in one place.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F2A37"/>
                </a:solidFill>
                <a:latin typeface="Calibri"/>
              </a:rPr>
              <a:t>•  Each card shows. </a:t>
            </a:r>
            <a:r>
              <a:rPr sz="1550">
                <a:solidFill>
                  <a:srgbClr val="1F2A37"/>
                </a:solidFill>
                <a:latin typeface="Calibri"/>
              </a:rPr>
              <a:t>Product image, price, commission %, category, brand, seller.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F2A37"/>
                </a:solidFill>
                <a:latin typeface="Calibri"/>
              </a:rPr>
              <a:t>•  Search &amp; filter. </a:t>
            </a:r>
            <a:r>
              <a:rPr sz="1550">
                <a:solidFill>
                  <a:srgbClr val="1F2A37"/>
                </a:solidFill>
                <a:latin typeface="Calibri"/>
              </a:rPr>
              <a:t>By category, highest commission, brand, price, trending.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1F2A37"/>
                </a:solidFill>
                <a:latin typeface="Calibri"/>
              </a:rPr>
              <a:t>•  Zero limits. </a:t>
            </a:r>
            <a:r>
              <a:rPr sz="1550">
                <a:solidFill>
                  <a:srgbClr val="1F2A37"/>
                </a:solidFill>
                <a:latin typeface="Calibri"/>
              </a:rPr>
              <a:t>Any product, any number, any seller — creators curate freely.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2057400"/>
            <a:ext cx="4434840" cy="3657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19456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Example catalog 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606040"/>
            <a:ext cx="3977639" cy="29260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2834640"/>
            <a:ext cx="3520440" cy="118872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24612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670"/>
                </a:solidFill>
                <a:latin typeface="Calibri"/>
              </a:rPr>
              <a:t>[ product image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11480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A37"/>
                </a:solidFill>
                <a:latin typeface="Calibri"/>
              </a:rPr>
              <a:t>Blue Running Shoes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4805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₹2,499  ·  SportsBrand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4937760"/>
            <a:ext cx="201168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93776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Earn 12% / sale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4 ·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Promoting a Product — Two 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670"/>
                </a:solidFill>
                <a:latin typeface="Calibri"/>
              </a:rPr>
              <a:t>A creator can use either or both for the same product. No seller-by-seller approval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5440680" cy="24688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5440680" cy="54864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Way A — Make a reel inside AOIN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Tap a product → Create Reel → record/upload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Reel goes live in the AOIN feed, tagged to the creator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Every buyer who watches &amp; buys is credited to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40680" cy="24688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4068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Way B — Shareable link ("Wishlink")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Generate a personal link for any product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Share it anywhere — Instagram, YouTube, WhatsApp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Any purchase via the link is credited to them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11155680" cy="1371600"/>
          </a:xfrm>
          <a:prstGeom prst="round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36592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631F"/>
                </a:solidFill>
                <a:latin typeface="Calibri"/>
              </a:rPr>
              <a:t>★  Creator Storefront — the signature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38928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37"/>
                </a:solidFill>
                <a:latin typeface="Calibri"/>
              </a:rPr>
              <a:t>Each creator gets a personal storefront page: one link holding ALL the products they've chosen to promote, organized by them. They share a single link and their whole audience can browse everything they recommend.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5 · BUYER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Buyer Journey &amp; the Moment of 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691640" cy="13716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691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Buyer sees the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2194560"/>
            <a:ext cx="20116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2631F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194560"/>
            <a:ext cx="1691640" cy="13716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2194560"/>
            <a:ext cx="1691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Via creator's reel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OR shared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194560"/>
            <a:ext cx="20116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2631F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2194560"/>
            <a:ext cx="1691640" cy="1371600"/>
          </a:xfrm>
          <a:prstGeom prst="roundRect">
            <a:avLst/>
          </a:prstGeom>
          <a:solidFill>
            <a:srgbClr val="FBE9E0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2194560"/>
            <a:ext cx="1691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2631F"/>
                </a:solidFill>
                <a:latin typeface="Calibri"/>
              </a:rPr>
              <a:t>AOIN tags buyer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2631F"/>
                </a:solidFill>
                <a:latin typeface="Calibri"/>
              </a:rPr>
              <a:t>to that creator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736" y="2194560"/>
            <a:ext cx="20116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2631F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2194560"/>
            <a:ext cx="1691640" cy="13716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194560"/>
            <a:ext cx="1691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Buyer browses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&amp; adds to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194560"/>
            <a:ext cx="20116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2631F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194560"/>
            <a:ext cx="1691640" cy="13716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2194560"/>
            <a:ext cx="1691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Buyer completes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194560"/>
            <a:ext cx="20116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2631F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194560"/>
            <a:ext cx="1691640" cy="1371600"/>
          </a:xfrm>
          <a:prstGeom prst="roundRect">
            <a:avLst/>
          </a:prstGeom>
          <a:solidFill>
            <a:srgbClr val="FBE9E0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194560"/>
            <a:ext cx="1691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2631F"/>
                </a:solidFill>
                <a:latin typeface="Calibri"/>
              </a:rPr>
              <a:t>Order stamped with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2631F"/>
                </a:solidFill>
                <a:latin typeface="Calibri"/>
              </a:rPr>
              <a:t>the creator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06240"/>
            <a:ext cx="1115568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434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631F"/>
                </a:solidFill>
                <a:latin typeface="Calibri"/>
              </a:rPr>
              <a:t>What the buyer experiences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6670"/>
                </a:solidFill>
                <a:latin typeface="Calibri"/>
              </a:rPr>
              <a:t>A completely normal shopping experience. The "tag" connecting the purchase to the creator is invisible to the buyer — it simply lets AOIN credit the right creator behind the scenes.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6 ·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Attribution — Who Gets Credit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1078992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28016" cy="1078992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2918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Last-touch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713232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B6670"/>
                </a:solidFill>
                <a:latin typeface="Calibri"/>
              </a:rPr>
              <a:t>The creator whose reel/link the buyer LAST interacted with before buying gets the credit.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33472"/>
            <a:ext cx="11155680" cy="1078992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128016" cy="1078992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33472"/>
            <a:ext cx="32918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Attribution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33472"/>
            <a:ext cx="713232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B6670"/>
                </a:solidFill>
                <a:latin typeface="Calibri"/>
              </a:rPr>
              <a:t>The purchase must happen within a set window after the click — e.g. 7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49624"/>
            <a:ext cx="11155680" cy="1078992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49624"/>
            <a:ext cx="128016" cy="1078992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49624"/>
            <a:ext cx="32918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One sale, one creator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49624"/>
            <a:ext cx="713232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B6670"/>
                </a:solidFill>
                <a:latin typeface="Calibri"/>
              </a:rPr>
              <a:t>Each sale is credited to exactly one creator. No splitting, no disputes.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65776"/>
            <a:ext cx="11155680" cy="1078992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065776"/>
            <a:ext cx="128016" cy="1078992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65776"/>
            <a:ext cx="32918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Returns reverse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065776"/>
            <a:ext cx="713232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5B6670"/>
                </a:solidFill>
                <a:latin typeface="Calibri"/>
              </a:rPr>
              <a:t>If the buyer returns/refunds, the credit is removed. Creators earn only on sales that stick.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7 ·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Commission &amp; Earnings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863840" cy="841248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55064"/>
            <a:ext cx="365760" cy="365760"/>
          </a:xfrm>
          <a:prstGeom prst="ellipse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1732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2A37"/>
                </a:solidFill>
                <a:latin typeface="Calibri"/>
              </a:rPr>
              <a:t>Order placed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0"/>
                </a:solidFill>
                <a:latin typeface="Calibri"/>
              </a:rPr>
              <a:t>Pending commission = commission % × sale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50008"/>
            <a:ext cx="7863840" cy="841248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587752"/>
            <a:ext cx="365760" cy="365760"/>
          </a:xfrm>
          <a:prstGeom prst="ellipse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50008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B6670"/>
                </a:solidFill>
                <a:latin typeface="Calibri"/>
              </a:rPr>
              <a:t>AOIN fee deducted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0008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0"/>
                </a:solidFill>
                <a:latin typeface="Calibri"/>
              </a:rPr>
              <a:t>A small platform fee is taken from the attributed sale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82696"/>
            <a:ext cx="7863840" cy="841248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282696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631F"/>
                </a:solidFill>
                <a:latin typeface="Calibri"/>
              </a:rPr>
              <a:t>PENDING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82696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0"/>
                </a:solidFill>
                <a:latin typeface="Calibri"/>
              </a:rPr>
              <a:t>Held until the sale is confirmed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15384"/>
            <a:ext cx="7863840" cy="841248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4531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215384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32"/>
                </a:solidFill>
                <a:latin typeface="Calibri"/>
              </a:rPr>
              <a:t>Delivered + return window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15384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0"/>
                </a:solidFill>
                <a:latin typeface="Calibri"/>
              </a:rPr>
              <a:t>Sale is now genuine and kept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48072"/>
            <a:ext cx="7863840" cy="841248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385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148072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32"/>
                </a:solidFill>
                <a:latin typeface="Calibri"/>
              </a:rPr>
              <a:t>CONFIRMED earnings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48072"/>
            <a:ext cx="3657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0"/>
                </a:solidFill>
                <a:latin typeface="Calibri"/>
              </a:rPr>
              <a:t>Moves into the creator's wallet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1417320"/>
            <a:ext cx="3063240" cy="4160520"/>
          </a:xfrm>
          <a:prstGeom prst="round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16002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631F"/>
                </a:solidFill>
                <a:latin typeface="Calibri"/>
              </a:rPr>
              <a:t>If cancelled / returned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14884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before confirmation, the pending commission simply drops off — nothing is paid.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36576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631F"/>
                </a:solidFill>
                <a:latin typeface="Calibri"/>
              </a:rPr>
              <a:t>Creator sees, per sale: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11480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670"/>
                </a:solidFill>
                <a:latin typeface="Calibri"/>
              </a:rPr>
              <a:t>product · sale value · rate · status (pending / confirmed / reversed) ·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FLOW 8 · PAYOUTS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Getting Creators Paid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Earnings accumulate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Confirmed commissions build up in the creator's balance.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596896"/>
            <a:ext cx="457200" cy="45720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95728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Minimum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395728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Withdraw once the balance crosses a minimum (e.g. ₹X).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74136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575304"/>
            <a:ext cx="457200" cy="45720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74136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Add payout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374136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Creator adds bank / UPI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52544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553712"/>
            <a:ext cx="457200" cy="45720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52544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Regular payout cycle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352544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AOIN disburses on a schedule (e.g. weekly / monthly batch).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30952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30952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Full transparency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330952"/>
            <a:ext cx="6492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Creator sees payout history; seller sees settlement &amp; their bill.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What Each Party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11880" cy="44805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64008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154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SELLER ·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Which products are open + their rates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Sales driven by creators; top creators/reels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Commission owed, paid &amp; upcoming settlement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Toggle products in/out, adjust rates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11880" cy="44805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61188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17320"/>
            <a:ext cx="3154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CREATOR · App +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Open catalog (browse / search / filter)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My reels &amp; performance (views, clicks, sales)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My storefront &amp; shareable links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Earnings: pending / confirmed / reversed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Payout balance, withdraw,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611880" cy="448056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417320"/>
            <a:ext cx="3611880" cy="6400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417320"/>
            <a:ext cx="3154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BUYER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2860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Nothing new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Normal shopping + reels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00">
                <a:solidFill>
                  <a:srgbClr val="1F2A37"/>
                </a:solidFill>
                <a:latin typeface="Calibri"/>
              </a:rPr>
              <a:t>•  Tracking stays invisible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THE FULL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End-to-End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280160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1280160"/>
            <a:ext cx="109728" cy="54864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280160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SELLER opens products for affiliate (sets commission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9222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1929384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" y="1929384"/>
            <a:ext cx="109728" cy="5486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92938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OPEN CATALOG — every creator sees every available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414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578608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" y="2578608"/>
            <a:ext cx="109728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578608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CREATOR picks any product(s) → makes a reel and/or generates a link / storefront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09067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227832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3227832"/>
            <a:ext cx="109728" cy="5486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227832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CREATOR shares — AOIN feed + Instagram / YouTube / anywhere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739896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3877056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" y="3877056"/>
            <a:ext cx="109728" cy="54864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877056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BUYER watches reel or clicks link → arrives tagged to that creator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389120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0160" y="4526280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" y="4526280"/>
            <a:ext cx="109728" cy="5486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4526280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BUYER buys within the attribution window → order stamped with creator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03834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5175504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80160" y="5175504"/>
            <a:ext cx="109728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517550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Delivered + return window passes → commission confirmed (minus AOIN fee)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68756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2631F"/>
                </a:solidFill>
                <a:latin typeface="Calibri"/>
              </a:rPr>
              <a:t>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80160" y="5824728"/>
            <a:ext cx="9601200" cy="5486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80160" y="5824728"/>
            <a:ext cx="109728" cy="54864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5824728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F2A37"/>
                </a:solidFill>
                <a:latin typeface="Calibri"/>
              </a:rPr>
              <a:t>CREATOR withdraws after minimum · Seller sees settlement · AOIN keeps its fee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31F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F2A37"/>
                </a:solidFill>
                <a:latin typeface="Calibri"/>
              </a:rPr>
              <a:t>Why This Model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24128"/>
            <a:ext cx="11155680" cy="25400"/>
          </a:xfrm>
          <a:prstGeom prst="rect">
            <a:avLst/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28016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Open &amp; uncomplicated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6949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No matchmaking, no approvals, no negotiation. Sellers list, creators self-serve.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86584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86584"/>
            <a:ext cx="128016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86584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Scales effortlessly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86584"/>
            <a:ext cx="6949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One opened product reaches every creator; one creator can promote thousands of products.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55848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55848"/>
            <a:ext cx="128016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55848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Performance-based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55848"/>
            <a:ext cx="6949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Sellers pay only for sales that actually happen — low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25112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325112"/>
            <a:ext cx="128016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25112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Creator-empowering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325112"/>
            <a:ext cx="6949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Creators build their own storefront/brand and earn passively from one shared link.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94376"/>
            <a:ext cx="11155680" cy="86868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FB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294376"/>
            <a:ext cx="128016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94376"/>
            <a:ext cx="3474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Platform flywheel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94376"/>
            <a:ext cx="6949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B6670"/>
                </a:solidFill>
                <a:latin typeface="Calibri"/>
              </a:rPr>
              <a:t>More open products → more creators → more reels &amp; links → more buyers → more sellers.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AOIN  ·  Creator Monetization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631F"/>
                </a:solidFill>
                <a:latin typeface="Calibri"/>
              </a:rPr>
              <a:t>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Sellers flip products "on" for affiliate with a commission rate; every creator can freely promote any of them via AOIN reels or shareable links; AOIN tracks each sale to the creator who drove it and pays them — keeping a platform fee. Fully open, self-serve, Wishlink-style.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